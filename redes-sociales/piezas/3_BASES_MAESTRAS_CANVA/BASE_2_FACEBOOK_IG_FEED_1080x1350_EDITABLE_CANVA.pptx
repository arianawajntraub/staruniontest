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0100" y="1381125"/>
            <a:ext cx="8686800" cy="95250"/>
          </a:xfrm>
          <a:prstGeom prst="roundRect">
            <a:avLst/>
          </a:prstGeom>
          <a:solidFill>
            <a:srgbClr val="03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tar-un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609725"/>
            <a:ext cx="1519237" cy="552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724650" y="1571625"/>
            <a:ext cx="2762250" cy="6096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uv-iso-9001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950" y="1666875"/>
            <a:ext cx="791271" cy="400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72350" y="1647825"/>
            <a:ext cx="20574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ISO 9001:2015</a:t>
            </a:r>
          </a:p>
          <a:p>
            <a:pPr>
              <a:defRPr sz="900">
                <a:solidFill>
                  <a:srgbClr val="374151"/>
                </a:solidFill>
                <a:latin typeface="Open Sans"/>
              </a:defRPr>
            </a:pPr>
            <a:r>
              <a:t>TÜV Rheinland · ID 9000041847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" y="2314575"/>
            <a:ext cx="4000500" cy="342900"/>
          </a:xfrm>
          <a:prstGeom prst="roundRect">
            <a:avLst/>
          </a:prstGeom>
          <a:solidFill>
            <a:srgbClr val="E6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LOGÍSTICA E INDUSTRIA · ISO 9001:2015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752725"/>
            <a:ext cx="8686800" cy="109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827"/>
                </a:solidFill>
                <a:latin typeface="Open Sans"/>
              </a:defRPr>
            </a:pPr>
            <a:r>
              <a:t>Operación continua en centros logísticos y plantas industriales.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88620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74151"/>
                </a:solidFill>
                <a:latin typeface="Open Sans"/>
              </a:defRPr>
            </a:pPr>
            <a:r>
              <a:t>Autolavadoras hombre a bordo, barredoras industriales y supervisión técnica bajo norma ISO 9001:2015 (TÜV Rheinland) sin detener tu línea ni el despacho.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" y="4667250"/>
            <a:ext cx="28194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+800 m² Base Propia CABA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33799" y="4667250"/>
            <a:ext cx="28194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Taller Propio In-House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500" y="4667250"/>
            <a:ext cx="28194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ISO 9001:2015 TÜV</a:t>
            </a:r>
          </a:p>
        </p:txBody>
      </p:sp>
      <p:pic>
        <p:nvPicPr>
          <p:cNvPr id="14" name="Picture 13" descr="crop_1080x1350_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162550"/>
            <a:ext cx="8686800" cy="54387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0100" y="10848975"/>
            <a:ext cx="582930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Open Sans"/>
              </a:defRPr>
            </a:pPr>
            <a:r>
              <a:t>Star Union S.R.L. · Base Guaminí 5657, CABA</a:t>
            </a:r>
          </a:p>
          <a:p>
            <a:pPr>
              <a:defRPr sz="1050">
                <a:solidFill>
                  <a:srgbClr val="374151"/>
                </a:solidFill>
                <a:latin typeface="Open Sans"/>
              </a:defRPr>
            </a:pPr>
            <a:r>
              <a:t>WhatsApp B2B: +54 9 11 2275-9369 · 0810-333-8646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2275" y="10887075"/>
            <a:ext cx="2714625" cy="457200"/>
          </a:xfrm>
          <a:prstGeom prst="roundRect">
            <a:avLst/>
          </a:prstGeom>
          <a:solidFill>
            <a:srgbClr val="03582D"/>
          </a:solidFill>
          <a:ln w="25400">
            <a:solidFill>
              <a:srgbClr val="FFC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Open Sans"/>
              </a:defRPr>
            </a:pPr>
            <a:r>
              <a:t>www.starunion.com.ar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0100" y="1381125"/>
            <a:ext cx="8686800" cy="95250"/>
          </a:xfrm>
          <a:prstGeom prst="roundRect">
            <a:avLst/>
          </a:prstGeom>
          <a:solidFill>
            <a:srgbClr val="03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tar-un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609725"/>
            <a:ext cx="1519237" cy="552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724650" y="1571625"/>
            <a:ext cx="2762250" cy="6096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uv-iso-9001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950" y="1666875"/>
            <a:ext cx="791271" cy="400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72350" y="1647825"/>
            <a:ext cx="20574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ISO 9001:2015</a:t>
            </a:r>
          </a:p>
          <a:p>
            <a:pPr>
              <a:defRPr sz="900">
                <a:solidFill>
                  <a:srgbClr val="374151"/>
                </a:solidFill>
                <a:latin typeface="Open Sans"/>
              </a:defRPr>
            </a:pPr>
            <a:r>
              <a:t>TÜV Rheinland · ID 9000041847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" y="2314575"/>
            <a:ext cx="4000500" cy="342900"/>
          </a:xfrm>
          <a:prstGeom prst="roundRect">
            <a:avLst/>
          </a:prstGeom>
          <a:solidFill>
            <a:srgbClr val="E6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INFRAESTRUCTURA PROPIA · GUAMINÍ 5657 CABA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752725"/>
            <a:ext cx="8686800" cy="109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827"/>
                </a:solidFill>
                <a:latin typeface="Open Sans"/>
              </a:defRPr>
            </a:pPr>
            <a:r>
              <a:t>Taller electromecánico propio: tus máquinas en planta nunca se detienen.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88620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74151"/>
                </a:solidFill>
                <a:latin typeface="Open Sans"/>
              </a:defRPr>
            </a:pPr>
            <a:r>
              <a:t>En nuestra Base Operativa de 800 m² en CABA reparamos, mantenemos y despachamos equipos de reemplazo con flota propia sin depender de terceros.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" y="4667250"/>
            <a:ext cx="28194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Taller Propio desde 2010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33799" y="4667250"/>
            <a:ext cx="28194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Flota Ford Transit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500" y="4667250"/>
            <a:ext cx="28194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Respuesta en el Día</a:t>
            </a:r>
          </a:p>
        </p:txBody>
      </p:sp>
      <p:pic>
        <p:nvPicPr>
          <p:cNvPr id="14" name="Picture 13" descr="crop_1080x1350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162550"/>
            <a:ext cx="8686800" cy="54387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0100" y="10848975"/>
            <a:ext cx="582930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Open Sans"/>
              </a:defRPr>
            </a:pPr>
            <a:r>
              <a:t>Star Union S.R.L. · Base Guaminí 5657, CABA</a:t>
            </a:r>
          </a:p>
          <a:p>
            <a:pPr>
              <a:defRPr sz="1050">
                <a:solidFill>
                  <a:srgbClr val="374151"/>
                </a:solidFill>
                <a:latin typeface="Open Sans"/>
              </a:defRPr>
            </a:pPr>
            <a:r>
              <a:t>WhatsApp B2B: +54 9 11 2275-9369 · 0810-333-8646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2275" y="10887075"/>
            <a:ext cx="2714625" cy="457200"/>
          </a:xfrm>
          <a:prstGeom prst="roundRect">
            <a:avLst/>
          </a:prstGeom>
          <a:solidFill>
            <a:srgbClr val="03582D"/>
          </a:solidFill>
          <a:ln w="25400">
            <a:solidFill>
              <a:srgbClr val="FFC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Open Sans"/>
              </a:defRPr>
            </a:pPr>
            <a:r>
              <a:t>www.starunion.com.ar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0100" y="1381125"/>
            <a:ext cx="8686800" cy="95250"/>
          </a:xfrm>
          <a:prstGeom prst="roundRect">
            <a:avLst/>
          </a:prstGeom>
          <a:solidFill>
            <a:srgbClr val="03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tar-un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609725"/>
            <a:ext cx="1519237" cy="552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724650" y="1571625"/>
            <a:ext cx="2762250" cy="6096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uv-iso-9001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950" y="1666875"/>
            <a:ext cx="791271" cy="400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72350" y="1647825"/>
            <a:ext cx="20574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ISO 9001:2015</a:t>
            </a:r>
          </a:p>
          <a:p>
            <a:pPr>
              <a:defRPr sz="900">
                <a:solidFill>
                  <a:srgbClr val="374151"/>
                </a:solidFill>
                <a:latin typeface="Open Sans"/>
              </a:defRPr>
            </a:pPr>
            <a:r>
              <a:t>TÜV Rheinland · ID 9000041847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" y="2314575"/>
            <a:ext cx="4000500" cy="342900"/>
          </a:xfrm>
          <a:prstGeom prst="roundRect">
            <a:avLst/>
          </a:prstGeom>
          <a:solidFill>
            <a:srgbClr val="E6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CONTROL BIOMÉTRICO · COBERTURA &lt; 2 HORAS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752725"/>
            <a:ext cx="8686800" cy="109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827"/>
                </a:solidFill>
                <a:latin typeface="Open Sans"/>
              </a:defRPr>
            </a:pPr>
            <a:r>
              <a:t>Presentismo auditado en tiempo real y cobertura de ausencias en menos de 2 horas.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88620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74151"/>
                </a:solidFill>
                <a:latin typeface="Open Sans"/>
              </a:defRPr>
            </a:pPr>
            <a:r>
              <a:t>Reloj biométrico conectado a nuestra central operativa: alerta automática a los 15 minutos y envío inmediato de personal de reemplazo.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" y="4667250"/>
            <a:ext cx="28194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Alerta Automática 15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33799" y="4667250"/>
            <a:ext cx="28194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Cobertura &lt; 2 Horas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500" y="4667250"/>
            <a:ext cx="28194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Personal Registrado</a:t>
            </a:r>
          </a:p>
        </p:txBody>
      </p:sp>
      <p:pic>
        <p:nvPicPr>
          <p:cNvPr id="14" name="Picture 13" descr="crop_1080x1350_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162550"/>
            <a:ext cx="8686800" cy="54387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0100" y="10848975"/>
            <a:ext cx="582930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Open Sans"/>
              </a:defRPr>
            </a:pPr>
            <a:r>
              <a:t>Star Union S.R.L. · Base Guaminí 5657, CABA</a:t>
            </a:r>
          </a:p>
          <a:p>
            <a:pPr>
              <a:defRPr sz="1050">
                <a:solidFill>
                  <a:srgbClr val="374151"/>
                </a:solidFill>
                <a:latin typeface="Open Sans"/>
              </a:defRPr>
            </a:pPr>
            <a:r>
              <a:t>WhatsApp B2B: +54 9 11 2275-9369 · 0810-333-8646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2275" y="10887075"/>
            <a:ext cx="2714625" cy="457200"/>
          </a:xfrm>
          <a:prstGeom prst="roundRect">
            <a:avLst/>
          </a:prstGeom>
          <a:solidFill>
            <a:srgbClr val="03582D"/>
          </a:solidFill>
          <a:ln w="25400">
            <a:solidFill>
              <a:srgbClr val="FFC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Open Sans"/>
              </a:defRPr>
            </a:pPr>
            <a:r>
              <a:t>www.starunion.com.ar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0100" y="1381125"/>
            <a:ext cx="8686800" cy="95250"/>
          </a:xfrm>
          <a:prstGeom prst="roundRect">
            <a:avLst/>
          </a:prstGeom>
          <a:solidFill>
            <a:srgbClr val="03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tar-un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609725"/>
            <a:ext cx="1519237" cy="552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724650" y="1571625"/>
            <a:ext cx="2762250" cy="6096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uv-iso-9001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950" y="1666875"/>
            <a:ext cx="791271" cy="400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72350" y="1647825"/>
            <a:ext cx="20574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ISO 9001:2015</a:t>
            </a:r>
          </a:p>
          <a:p>
            <a:pPr>
              <a:defRPr sz="900">
                <a:solidFill>
                  <a:srgbClr val="374151"/>
                </a:solidFill>
                <a:latin typeface="Open Sans"/>
              </a:defRPr>
            </a:pPr>
            <a:r>
              <a:t>TÜV Rheinland · ID 9000041847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" y="2314575"/>
            <a:ext cx="4000500" cy="342900"/>
          </a:xfrm>
          <a:prstGeom prst="roundRect">
            <a:avLst/>
          </a:prstGeom>
          <a:solidFill>
            <a:srgbClr val="E6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SALUD Y LABORATORIOS · PROTOCOLOS ANMAT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752725"/>
            <a:ext cx="8686800" cy="109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827"/>
                </a:solidFill>
                <a:latin typeface="Open Sans"/>
              </a:defRPr>
            </a:pPr>
            <a:r>
              <a:t>Higiene técnica para clínicas, sanatorios y laboratorios de alta exigencia.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88620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74151"/>
                </a:solidFill>
                <a:latin typeface="Open Sans"/>
              </a:defRPr>
            </a:pPr>
            <a:r>
              <a:t>Protocolos contra contaminación cruzada, insumos aprobados por ANMAT con hojas de seguridad (MSDS) y supervisión auditada bajo ISO 9001:2015.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" y="4667250"/>
            <a:ext cx="28194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Insumos ANMAT + MSDS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33799" y="4667250"/>
            <a:ext cx="28194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Cero Contaminación Cruzada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500" y="4667250"/>
            <a:ext cx="28194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ISO 9001:2015 TÜV</a:t>
            </a:r>
          </a:p>
        </p:txBody>
      </p:sp>
      <p:pic>
        <p:nvPicPr>
          <p:cNvPr id="14" name="Picture 13" descr="crop_1080x1350_0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162550"/>
            <a:ext cx="8686800" cy="54387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0100" y="10848975"/>
            <a:ext cx="582930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Open Sans"/>
              </a:defRPr>
            </a:pPr>
            <a:r>
              <a:t>Star Union S.R.L. · Base Guaminí 5657, CABA</a:t>
            </a:r>
          </a:p>
          <a:p>
            <a:pPr>
              <a:defRPr sz="1050">
                <a:solidFill>
                  <a:srgbClr val="374151"/>
                </a:solidFill>
                <a:latin typeface="Open Sans"/>
              </a:defRPr>
            </a:pPr>
            <a:r>
              <a:t>WhatsApp B2B: +54 9 11 2275-9369 · 0810-333-8646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2275" y="10887075"/>
            <a:ext cx="2714625" cy="457200"/>
          </a:xfrm>
          <a:prstGeom prst="roundRect">
            <a:avLst/>
          </a:prstGeom>
          <a:solidFill>
            <a:srgbClr val="03582D"/>
          </a:solidFill>
          <a:ln w="25400">
            <a:solidFill>
              <a:srgbClr val="FFC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Open Sans"/>
              </a:defRPr>
            </a:pPr>
            <a:r>
              <a:t>www.starunion.com.ar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0100" y="1381125"/>
            <a:ext cx="8686800" cy="95250"/>
          </a:xfrm>
          <a:prstGeom prst="roundRect">
            <a:avLst/>
          </a:prstGeom>
          <a:solidFill>
            <a:srgbClr val="035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star-un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609725"/>
            <a:ext cx="1519237" cy="5524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724650" y="1571625"/>
            <a:ext cx="2762250" cy="60960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uv-iso-9001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950" y="1666875"/>
            <a:ext cx="791271" cy="400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72350" y="1647825"/>
            <a:ext cx="20574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ISO 9001:2015</a:t>
            </a:r>
          </a:p>
          <a:p>
            <a:pPr>
              <a:defRPr sz="900">
                <a:solidFill>
                  <a:srgbClr val="374151"/>
                </a:solidFill>
                <a:latin typeface="Open Sans"/>
              </a:defRPr>
            </a:pPr>
            <a:r>
              <a:t>TÜV Rheinland · ID 9000041847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" y="2314575"/>
            <a:ext cx="4000500" cy="342900"/>
          </a:xfrm>
          <a:prstGeom prst="roundRect">
            <a:avLst/>
          </a:prstGeom>
          <a:solidFill>
            <a:srgbClr val="E6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3582D"/>
                </a:solidFill>
                <a:latin typeface="Open Sans"/>
              </a:defRPr>
            </a:pPr>
            <a:r>
              <a:t>EDUCACIÓN Y DEPORTE · GRANDES PREDIOS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752725"/>
            <a:ext cx="8686800" cy="109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827"/>
                </a:solidFill>
                <a:latin typeface="Open Sans"/>
              </a:defRPr>
            </a:pPr>
            <a:r>
              <a:t>Mantenimiento integral de campus universitarios, colegios y clubes deportivos.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88620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74151"/>
                </a:solidFill>
                <a:latin typeface="Open Sans"/>
              </a:defRPr>
            </a:pPr>
            <a:r>
              <a:t>Equipos sincronizados en contraturno y entre cambios de clase para aulas, auditorios, vestuarios y pisos deportivos de alto tránsito.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" y="4667250"/>
            <a:ext cx="28194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Operación en Contraturno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33799" y="4667250"/>
            <a:ext cx="28194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Cuidado de Parquet y Pisos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500" y="4667250"/>
            <a:ext cx="2819400" cy="36195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33522"/>
                </a:solidFill>
                <a:latin typeface="Open Sans"/>
              </a:defRPr>
            </a:pPr>
            <a:r>
              <a:t>✓ Personal Identificado</a:t>
            </a:r>
          </a:p>
        </p:txBody>
      </p:sp>
      <p:pic>
        <p:nvPicPr>
          <p:cNvPr id="14" name="Picture 13" descr="crop_1080x1350_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162550"/>
            <a:ext cx="8686800" cy="54387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0100" y="10848975"/>
            <a:ext cx="582930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Open Sans"/>
              </a:defRPr>
            </a:pPr>
            <a:r>
              <a:t>Star Union S.R.L. · Base Guaminí 5657, CABA</a:t>
            </a:r>
          </a:p>
          <a:p>
            <a:pPr>
              <a:defRPr sz="1050">
                <a:solidFill>
                  <a:srgbClr val="374151"/>
                </a:solidFill>
                <a:latin typeface="Open Sans"/>
              </a:defRPr>
            </a:pPr>
            <a:r>
              <a:t>WhatsApp B2B: +54 9 11 2275-9369 · 0810-333-8646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2275" y="10887075"/>
            <a:ext cx="2714625" cy="457200"/>
          </a:xfrm>
          <a:prstGeom prst="roundRect">
            <a:avLst/>
          </a:prstGeom>
          <a:solidFill>
            <a:srgbClr val="03582D"/>
          </a:solidFill>
          <a:ln w="25400">
            <a:solidFill>
              <a:srgbClr val="FFC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Open Sans"/>
              </a:defRPr>
            </a:pPr>
            <a:r>
              <a:t>www.starunion.com.ar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